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5"/>
  </p:notesMasterIdLst>
  <p:handoutMasterIdLst>
    <p:handoutMasterId r:id="rId16"/>
  </p:handoutMasterIdLst>
  <p:sldIdLst>
    <p:sldId id="436" r:id="rId5"/>
    <p:sldId id="437" r:id="rId6"/>
    <p:sldId id="438" r:id="rId7"/>
    <p:sldId id="440" r:id="rId8"/>
    <p:sldId id="444" r:id="rId9"/>
    <p:sldId id="445" r:id="rId10"/>
    <p:sldId id="442" r:id="rId11"/>
    <p:sldId id="446" r:id="rId12"/>
    <p:sldId id="448" r:id="rId13"/>
    <p:sldId id="43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768" y="102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1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5181-84CE-3524-D68D-682B0F012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EE94D-6907-146E-CD9F-F7D4D6EE1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C07F-99A7-224C-F60D-E7E57E4BF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283D6-F160-D1E6-106D-A182D54A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13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02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4EAF-7809-62FD-F1E0-35C6AE18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F89CE-F775-A29F-5639-848F86F23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D96C7-8181-6A9D-C07D-A9996B5D2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46579-87FC-905C-C274-C05D86752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71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2D80-A1A9-2F0C-0B3F-F5DC58BF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18EBC-3C97-F85D-A578-1606CD04A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7F2D8-B01F-0CC4-D8B1-439B16944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038A5-69BB-EAC6-DD73-7ABBC9DF5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67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6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0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6400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8" r:id="rId15"/>
    <p:sldLayoutId id="2147483730" r:id="rId16"/>
    <p:sldLayoutId id="2147483732" r:id="rId17"/>
    <p:sldLayoutId id="214748373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Pass</a:t>
            </a:r>
            <a:br>
              <a:rPr lang="en-US" dirty="0"/>
            </a:br>
            <a:br>
              <a:rPr lang="en-US" dirty="0"/>
            </a:br>
            <a:r>
              <a:rPr lang="en-US" sz="1200" i="1" dirty="0"/>
              <a:t>Maximiliano </a:t>
            </a:r>
            <a:r>
              <a:rPr lang="en-US" sz="1200" i="1" dirty="0" err="1"/>
              <a:t>Abalos</a:t>
            </a:r>
            <a:br>
              <a:rPr lang="en-US" sz="1200" i="1" dirty="0"/>
            </a:br>
            <a:r>
              <a:rPr lang="en-US" sz="1200" i="1" dirty="0"/>
              <a:t>Jose </a:t>
            </a:r>
            <a:r>
              <a:rPr lang="en-US" sz="1200" i="1" dirty="0" err="1"/>
              <a:t>Puchulu</a:t>
            </a:r>
            <a:endParaRPr lang="en-US" sz="12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504103-6319-C1BA-994F-97D3A9F1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Problemática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927D6-AFA7-348E-8C32-400C1E6F32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s-CL" dirty="0"/>
              <a:t>El problema que busca resolver este proyecto es la falta de soluciones seguras y locales para el almacenamiento de contraseñas y </a:t>
            </a:r>
            <a:r>
              <a:rPr lang="es-CL" dirty="0" err="1"/>
              <a:t>passkeys</a:t>
            </a:r>
            <a:r>
              <a:rPr lang="es-CL" dirty="0"/>
              <a:t> en dispositivos móviles. Actualmente, la mayoría de las aplicaciones de gestión de credenciales dependen de la nube, lo que introduce riesgos de exposición de datos, dependencia de terceros y necesidad de conectividad constante.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dirty="0"/>
              <a:t>S</a:t>
            </a:r>
            <a:r>
              <a:rPr lang="en-US" dirty="0" err="1"/>
              <a:t>ecure</a:t>
            </a:r>
            <a:r>
              <a:rPr lang="en-US" dirty="0"/>
              <a:t> Pass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2EBC5878-1007-0F8E-3940-DE9D1D088B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F204D-A372-6320-019D-AF01DFE4FC1C}"/>
              </a:ext>
            </a:extLst>
          </p:cNvPr>
          <p:cNvSpPr txBox="1">
            <a:spLocks/>
          </p:cNvSpPr>
          <p:nvPr/>
        </p:nvSpPr>
        <p:spPr>
          <a:xfrm>
            <a:off x="1371598" y="3551021"/>
            <a:ext cx="5536135" cy="34464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>
                <a:solidFill>
                  <a:schemeClr val="bg2"/>
                </a:solidFill>
              </a:rPr>
              <a:t>Lo que se espera lograr con este proyecto es el desarrollo de una </a:t>
            </a:r>
            <a:r>
              <a:rPr lang="es-CL" b="1" dirty="0">
                <a:solidFill>
                  <a:schemeClr val="bg2"/>
                </a:solidFill>
              </a:rPr>
              <a:t>aplicación Android segura</a:t>
            </a:r>
            <a:r>
              <a:rPr lang="es-CL" dirty="0">
                <a:solidFill>
                  <a:schemeClr val="bg2"/>
                </a:solidFill>
              </a:rPr>
              <a:t> que permita a los usuarios </a:t>
            </a:r>
            <a:r>
              <a:rPr lang="es-CL" b="1" dirty="0">
                <a:solidFill>
                  <a:schemeClr val="bg2"/>
                </a:solidFill>
              </a:rPr>
              <a:t>almacenar y gestionar </a:t>
            </a:r>
            <a:r>
              <a:rPr lang="es-CL" b="1" dirty="0" err="1">
                <a:solidFill>
                  <a:schemeClr val="bg2"/>
                </a:solidFill>
              </a:rPr>
              <a:t>passkeys</a:t>
            </a:r>
            <a:r>
              <a:rPr lang="es-CL" b="1" dirty="0">
                <a:solidFill>
                  <a:schemeClr val="bg2"/>
                </a:solidFill>
              </a:rPr>
              <a:t> de manera local.</a:t>
            </a:r>
            <a:br>
              <a:rPr lang="es-CL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0027CB-3C27-FC4C-AEF9-685A21EA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L" dirty="0"/>
              <a:t>Implementar una </a:t>
            </a:r>
            <a:r>
              <a:rPr lang="es-CL" b="1" dirty="0"/>
              <a:t>base de datos cifrada</a:t>
            </a:r>
            <a:r>
              <a:rPr lang="es-CL" dirty="0"/>
              <a:t> utilizando </a:t>
            </a:r>
            <a:r>
              <a:rPr lang="es-CL" dirty="0" err="1"/>
              <a:t>SQLCipher</a:t>
            </a:r>
            <a:r>
              <a:rPr lang="es-CL" dirty="0"/>
              <a:t> para proteger la información sensible.</a:t>
            </a:r>
            <a:endParaRPr lang="en-US" dirty="0"/>
          </a:p>
          <a:p>
            <a:r>
              <a:rPr lang="es-CL" dirty="0"/>
              <a:t>Integrar </a:t>
            </a:r>
            <a:r>
              <a:rPr lang="es-CL" b="1" dirty="0"/>
              <a:t>Android </a:t>
            </a:r>
            <a:r>
              <a:rPr lang="es-CL" b="1" dirty="0" err="1"/>
              <a:t>Keystore</a:t>
            </a:r>
            <a:r>
              <a:rPr lang="es-CL" dirty="0"/>
              <a:t> para la gestión segura de claves criptográficas.</a:t>
            </a:r>
            <a:endParaRPr lang="en-US" dirty="0"/>
          </a:p>
          <a:p>
            <a:r>
              <a:rPr lang="es-CL" dirty="0"/>
              <a:t>Incorporar </a:t>
            </a:r>
            <a:r>
              <a:rPr lang="es-CL" b="1" dirty="0"/>
              <a:t>autenticación biométrica</a:t>
            </a:r>
            <a:r>
              <a:rPr lang="es-CL" dirty="0"/>
              <a:t> con la API </a:t>
            </a:r>
            <a:r>
              <a:rPr lang="es-CL" dirty="0" err="1"/>
              <a:t>BiometricPrompt</a:t>
            </a:r>
            <a:r>
              <a:rPr lang="es-CL" dirty="0"/>
              <a:t> para fortalecer el acceso de los usuarios.</a:t>
            </a:r>
            <a:endParaRPr lang="en-US" dirty="0"/>
          </a:p>
          <a:p>
            <a:r>
              <a:rPr lang="es-CL" dirty="0"/>
              <a:t>Asegurar </a:t>
            </a:r>
            <a:r>
              <a:rPr lang="es-CL" b="1" dirty="0"/>
              <a:t>archivos y preferencias</a:t>
            </a:r>
            <a:r>
              <a:rPr lang="es-CL" dirty="0"/>
              <a:t> mediante </a:t>
            </a:r>
            <a:r>
              <a:rPr lang="es-CL" dirty="0" err="1"/>
              <a:t>Jetpack</a:t>
            </a:r>
            <a:r>
              <a:rPr lang="es-CL" dirty="0"/>
              <a:t> Security.</a:t>
            </a:r>
            <a:endParaRPr lang="en-US" dirty="0"/>
          </a:p>
          <a:p>
            <a:r>
              <a:rPr lang="es-CL" dirty="0"/>
              <a:t>Evaluar la integración de </a:t>
            </a:r>
            <a:r>
              <a:rPr lang="es-CL" b="1" dirty="0" err="1"/>
              <a:t>Tink</a:t>
            </a:r>
            <a:r>
              <a:rPr lang="es-CL" dirty="0"/>
              <a:t> para operaciones criptográficas avanzadas.</a:t>
            </a:r>
            <a:endParaRPr lang="en-US" dirty="0"/>
          </a:p>
          <a:p>
            <a:r>
              <a:rPr lang="es-CL" dirty="0"/>
              <a:t>Realizar </a:t>
            </a:r>
            <a:r>
              <a:rPr lang="es-CL" b="1" dirty="0"/>
              <a:t>pruebas de validación de seguridad</a:t>
            </a:r>
            <a:r>
              <a:rPr lang="es-CL" dirty="0"/>
              <a:t> frente a intentos de extracción y accesos no autorizados.</a:t>
            </a:r>
            <a:endParaRPr lang="en-US" dirty="0"/>
          </a:p>
          <a:p>
            <a:r>
              <a:rPr lang="es-CL" dirty="0"/>
              <a:t>Documentar el proceso y entregar un </a:t>
            </a:r>
            <a:r>
              <a:rPr lang="es-CL" b="1" dirty="0"/>
              <a:t>prototipo funcional</a:t>
            </a:r>
            <a:r>
              <a:rPr lang="es-CL" dirty="0"/>
              <a:t> acompañado de informe técnico.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AAEC5E-1903-897F-3899-D104894E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de </a:t>
            </a:r>
            <a:r>
              <a:rPr lang="en-US" dirty="0" err="1"/>
              <a:t>desempeño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171ED2-DFD4-666E-F6D1-C672E5CE864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L" b="1" dirty="0"/>
              <a:t>Desarrollo de software seguro</a:t>
            </a:r>
            <a:r>
              <a:rPr lang="es-CL" dirty="0"/>
              <a:t>: construcción de aplicaciones móviles seguras considerando estándares de la industria.</a:t>
            </a:r>
            <a:endParaRPr lang="en-US" dirty="0"/>
          </a:p>
          <a:p>
            <a:r>
              <a:rPr lang="es-CL" b="1" dirty="0"/>
              <a:t>Ciberseguridad aplicada</a:t>
            </a:r>
            <a:r>
              <a:rPr lang="es-CL" dirty="0"/>
              <a:t>: aplicación de técnicas de cifrado, gestión de claves y autenticación para proteger datos sensibles.</a:t>
            </a:r>
            <a:endParaRPr lang="en-US" dirty="0"/>
          </a:p>
          <a:p>
            <a:r>
              <a:rPr lang="es-CL" b="1" dirty="0"/>
              <a:t>Gestión de proyectos informáticos</a:t>
            </a:r>
            <a:r>
              <a:rPr lang="es-CL" dirty="0"/>
              <a:t>: planificación, control y documentación de un proyecto de software con entregables definidos.</a:t>
            </a:r>
            <a:endParaRPr lang="en-US" dirty="0"/>
          </a:p>
          <a:p>
            <a:r>
              <a:rPr lang="es-CL" b="1" dirty="0"/>
              <a:t>Modelamiento</a:t>
            </a:r>
            <a:r>
              <a:rPr lang="es-CL" dirty="0"/>
              <a:t> </a:t>
            </a:r>
            <a:r>
              <a:rPr lang="es-CL" b="1" dirty="0"/>
              <a:t>y administración de datos</a:t>
            </a:r>
            <a:r>
              <a:rPr lang="es-CL" dirty="0"/>
              <a:t>: diseño de un modelo de datos seguro y escalable para el almacenamiento local de información sensible.</a:t>
            </a:r>
            <a:endParaRPr lang="en-US" dirty="0"/>
          </a:p>
        </p:txBody>
      </p:sp>
      <p:pic>
        <p:nvPicPr>
          <p:cNvPr id="18" name="Picture Placeholder 17" descr="A mountain with snow and stars in the sky">
            <a:extLst>
              <a:ext uri="{FF2B5EF4-FFF2-40B4-BE49-F238E27FC236}">
                <a16:creationId xmlns:a16="http://schemas.microsoft.com/office/drawing/2014/main" id="{191982FA-A9CA-9ACC-09E4-77FD999BDB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3" b="103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70016-E0B6-DAC7-B6DA-CC7F3A15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D7DC-BC92-883B-02EB-5BDBF716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1F8D0EA-7CE3-D37E-A68C-4D65DC32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Competencias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A3D016F-1933-51D9-8A7D-49A98F5C89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L" b="1" dirty="0"/>
              <a:t>Desarrollar soluciones de software</a:t>
            </a:r>
            <a:r>
              <a:rPr lang="es-CL" dirty="0"/>
              <a:t> utilizando técnicas que sistematicen el proceso de desarrollo y mantenimiento, asegurando el logro de los objetivos.</a:t>
            </a:r>
            <a:endParaRPr lang="en-US" dirty="0"/>
          </a:p>
          <a:p>
            <a:r>
              <a:rPr lang="es-CL" b="1" dirty="0"/>
              <a:t>Gestionar proyectos informáticos</a:t>
            </a:r>
            <a:r>
              <a:rPr lang="es-CL" dirty="0"/>
              <a:t>, ofreciendo alternativas para la toma de decisiones de acuerdo con los requerimientos de la organización.</a:t>
            </a:r>
            <a:endParaRPr lang="en-US" dirty="0"/>
          </a:p>
          <a:p>
            <a:r>
              <a:rPr lang="es-CL" b="1" dirty="0"/>
              <a:t>Construir modelos de datos</a:t>
            </a:r>
            <a:r>
              <a:rPr lang="es-CL" dirty="0"/>
              <a:t> para soportar los requerimientos de la aplicación de acuerdo a un diseño definido y escalable en el tiempo.</a:t>
            </a:r>
            <a:endParaRPr lang="en-US" dirty="0"/>
          </a:p>
          <a:p>
            <a:r>
              <a:rPr lang="es-CL" b="1" dirty="0"/>
              <a:t>Realizar pruebas de certificación</a:t>
            </a:r>
            <a:r>
              <a:rPr lang="es-CL" dirty="0"/>
              <a:t> de productos y procesos utilizando buenas prácticas de la industria, asegurando calidad y seguridad.</a:t>
            </a:r>
            <a:endParaRPr lang="en-US" dirty="0"/>
          </a:p>
        </p:txBody>
      </p:sp>
      <p:pic>
        <p:nvPicPr>
          <p:cNvPr id="18" name="Picture Placeholder 17" descr="A mountain with snow and stars in the sky">
            <a:extLst>
              <a:ext uri="{FF2B5EF4-FFF2-40B4-BE49-F238E27FC236}">
                <a16:creationId xmlns:a16="http://schemas.microsoft.com/office/drawing/2014/main" id="{13465ADB-5B1E-9D7E-CCC6-30485E0DA2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3" b="103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84159C-1CCB-8CB0-9F01-F5D58DF1B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5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65791-02C3-85CB-EC2D-AE1D097A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Metodología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CC286-7253-B31F-DFE6-802920A9FC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CL" dirty="0"/>
              <a:t>El proyecto se desarrollará utilizando una </a:t>
            </a:r>
            <a:r>
              <a:rPr lang="es-CL" b="1" dirty="0"/>
              <a:t>metodología ágil (SCRUM y XP)</a:t>
            </a:r>
            <a:r>
              <a:rPr lang="es-CL" dirty="0"/>
              <a:t> </a:t>
            </a:r>
            <a:endParaRPr lang="en-US" dirty="0"/>
          </a:p>
          <a:p>
            <a:r>
              <a:rPr lang="es-CL" b="1" dirty="0"/>
              <a:t>Maximiliano Abalos</a:t>
            </a:r>
            <a:r>
              <a:rPr lang="es-CL" dirty="0"/>
              <a:t>: responsable del análisis de requerimientos, modelado de datos,  pruebas de seguridad y desarrollo.</a:t>
            </a:r>
            <a:endParaRPr lang="en-US" dirty="0"/>
          </a:p>
          <a:p>
            <a:r>
              <a:rPr lang="es-CL" b="1" dirty="0"/>
              <a:t>José </a:t>
            </a:r>
            <a:r>
              <a:rPr lang="es-CL" b="1" dirty="0" err="1"/>
              <a:t>Puchulu</a:t>
            </a:r>
            <a:r>
              <a:rPr lang="es-CL" dirty="0"/>
              <a:t>: responsable de desarrollo </a:t>
            </a:r>
            <a:r>
              <a:rPr lang="es-CL" dirty="0" err="1"/>
              <a:t>fullstack</a:t>
            </a:r>
            <a:r>
              <a:rPr lang="es-CL" dirty="0"/>
              <a:t> del proyecto.</a:t>
            </a:r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F2AD9-EC94-1F3D-3B79-64938E47A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86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A409-C939-17EC-0C7D-E839C478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3018A-F1C2-DA9E-1E9B-7DC91410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Gantt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39719-E73B-6A8A-006D-1F694CDA7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72D05-DB9C-18A4-54FE-2DE21D42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326" y="1734656"/>
            <a:ext cx="8331966" cy="38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43E1-A9C4-5C70-61FC-B4745E18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311C3F-17B9-D191-46D7-7346889A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Factibilidad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A3FE3-3A42-0AC7-BDEC-0E5F4771C5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6" y="2274034"/>
            <a:ext cx="8733253" cy="3298630"/>
          </a:xfrm>
        </p:spPr>
        <p:txBody>
          <a:bodyPr>
            <a:normAutofit fontScale="85000" lnSpcReduction="10000"/>
          </a:bodyPr>
          <a:lstStyle/>
          <a:p>
            <a:r>
              <a:rPr lang="es-CL" dirty="0"/>
              <a:t>El proyecto es factible de realizar en el semestre, ya que los objetivos están bien delimitados y el tiempo disponible permite cubrir análisis, diseño, implementación y pruebas. Las horas asignadas a la asignatura son suficientes para desarrollar un prototipo funcional.</a:t>
            </a:r>
            <a:endParaRPr lang="en-US" dirty="0"/>
          </a:p>
          <a:p>
            <a:r>
              <a:rPr lang="es-CL" dirty="0"/>
              <a:t>Los materiales requeridos se limitan a computadores con Android Studio y dispositivos Android, además de librerías gratuitas como </a:t>
            </a:r>
            <a:r>
              <a:rPr lang="es-CL" dirty="0" err="1"/>
              <a:t>SQLCipher</a:t>
            </a:r>
            <a:r>
              <a:rPr lang="es-CL" dirty="0"/>
              <a:t>, </a:t>
            </a:r>
            <a:r>
              <a:rPr lang="es-CL" dirty="0" err="1"/>
              <a:t>Keystore</a:t>
            </a:r>
            <a:r>
              <a:rPr lang="es-CL" dirty="0"/>
              <a:t> y </a:t>
            </a:r>
            <a:r>
              <a:rPr lang="es-CL" dirty="0" err="1"/>
              <a:t>Jetpack</a:t>
            </a:r>
            <a:r>
              <a:rPr lang="es-CL" dirty="0"/>
              <a:t> Security.</a:t>
            </a:r>
            <a:endParaRPr lang="en-US" dirty="0"/>
          </a:p>
          <a:p>
            <a:r>
              <a:rPr lang="es-CL" dirty="0"/>
              <a:t>Facilitan su desarrollo la experiencia previa del equipo en programación móvil y la disponibilidad de documentación oficial. Entre las posibles dificultades están la compatibilidad entre versiones de Android y la complejidad del cifrado, que se abordarán priorizando un MVP y realizando pruebas en distintos dispositivos.</a:t>
            </a:r>
            <a:endParaRPr lang="en-US" dirty="0"/>
          </a:p>
          <a:p>
            <a:r>
              <a:rPr lang="es-CL" dirty="0"/>
              <a:t>En resumen, el proyecto es viable técnica y académicamente dentro del plazo establecido.</a:t>
            </a:r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F14483-869F-F1CE-248D-CA3B7364E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0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G</a:t>
            </a:r>
            <a:r>
              <a:rPr lang="en-US" dirty="0" err="1"/>
              <a:t>racias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{F1A07D2F-0429-4ED8-A700-1A747C7906C2}TFce6c19b5-b857-4146-b2d9-33ca01394bc5af92e1a2_win32-293333268dd9</Template>
  <TotalTime>183</TotalTime>
  <Words>559</Words>
  <Application>Microsoft Office PowerPoint</Application>
  <PresentationFormat>Widescreen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Nova Light</vt:lpstr>
      <vt:lpstr>Calibri</vt:lpstr>
      <vt:lpstr>Elephant</vt:lpstr>
      <vt:lpstr>ModOverlayVTI</vt:lpstr>
      <vt:lpstr>Secure Pass  Maximiliano Abalos Jose Puchulu</vt:lpstr>
      <vt:lpstr>Problemática</vt:lpstr>
      <vt:lpstr>Secure Pass </vt:lpstr>
      <vt:lpstr>Objetivos </vt:lpstr>
      <vt:lpstr>Areas de desempeño</vt:lpstr>
      <vt:lpstr>Competencias</vt:lpstr>
      <vt:lpstr>Metodología</vt:lpstr>
      <vt:lpstr>Gantt</vt:lpstr>
      <vt:lpstr>Factibilidad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. ABALOS COUSINO</dc:creator>
  <cp:lastModifiedBy>MAXIMILIANO . ABALOS COUSINO</cp:lastModifiedBy>
  <cp:revision>3</cp:revision>
  <dcterms:created xsi:type="dcterms:W3CDTF">2025-09-23T03:46:59Z</dcterms:created>
  <dcterms:modified xsi:type="dcterms:W3CDTF">2025-09-23T16:45:10Z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